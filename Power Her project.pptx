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al Black" panose="020B0A04020102020204" pitchFamily="34" charset="0"/>
      <p:bold r:id="rId8"/>
    </p:embeddedFont>
    <p:embeddedFont>
      <p:font typeface="Arial Rounded MT Bold" panose="020F0704030504030204" pitchFamily="34" charset="0"/>
      <p:regular r:id="rId9"/>
    </p:embeddedFont>
    <p:embeddedFont>
      <p:font typeface="Bahnschrift SemiLight SemiConde" panose="020B0502040204020203" pitchFamily="34" charset="0"/>
      <p:regular r:id="rId10"/>
    </p:embeddedFont>
    <p:embeddedFont>
      <p:font typeface="Georgia" panose="02040502050405020303" pitchFamily="18" charset="0"/>
      <p:regular r:id="rId11"/>
      <p:bold r:id="rId12"/>
      <p:italic r:id="rId13"/>
      <p:boldItalic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jqe3KjTi4ypBoZiVY3WJPGiEDD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C23218-A1CE-406B-A49E-9FDE17486B0B}">
  <a:tblStyle styleId="{2FC23218-A1CE-406B-A49E-9FDE17486B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customschemas.google.com/relationships/presentationmetadata" Target="meta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8" name="Google Shape;88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91" name="Google Shape;91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6" name="Google Shape;106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8" name="Google Shape;138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e0971041_9_2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1" name="Google Shape;151;g39fe0971041_9_2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g39fe0971041_9_2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3" name="Google Shape;153;g39fe0971041_9_2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9fe0971041_9_2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5" name="Google Shape;155;g39fe0971041_9_2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f8345b7f8_0_543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g39f8345b7f8_0_543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16" name="Google Shape;16;g39f8345b7f8_0_5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g39f8345b7f8_0_5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8;g39f8345b7f8_0_543"/>
          <p:cNvSpPr txBox="1">
            <a:spLocks noGrp="1"/>
          </p:cNvSpPr>
          <p:nvPr>
            <p:ph type="ctrTitle"/>
          </p:nvPr>
        </p:nvSpPr>
        <p:spPr>
          <a:xfrm>
            <a:off x="1458900" y="2644900"/>
            <a:ext cx="15376200" cy="3329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19" name="Google Shape;19;g39f8345b7f8_0_543"/>
          <p:cNvSpPr txBox="1">
            <a:spLocks noGrp="1"/>
          </p:cNvSpPr>
          <p:nvPr>
            <p:ph type="subTitle" idx="1"/>
          </p:nvPr>
        </p:nvSpPr>
        <p:spPr>
          <a:xfrm>
            <a:off x="1459255" y="6345800"/>
            <a:ext cx="15376200" cy="1082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0" name="Google Shape;20;g39f8345b7f8_0_543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9f8345b7f8_0_551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23" name="Google Shape;23;g39f8345b7f8_0_5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g39f8345b7f8_0_5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g39f8345b7f8_0_551"/>
          <p:cNvSpPr txBox="1">
            <a:spLocks noGrp="1"/>
          </p:cNvSpPr>
          <p:nvPr>
            <p:ph type="title"/>
          </p:nvPr>
        </p:nvSpPr>
        <p:spPr>
          <a:xfrm>
            <a:off x="1458900" y="2644900"/>
            <a:ext cx="15376800" cy="3037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g39f8345b7f8_0_551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9f8345b7f8_0_557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9;g39f8345b7f8_0_557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30" name="Google Shape;30;g39f8345b7f8_0_5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g39f8345b7f8_0_5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g39f8345b7f8_0_557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74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Google Shape;33;g39f8345b7f8_0_557"/>
          <p:cNvSpPr txBox="1">
            <a:spLocks noGrp="1"/>
          </p:cNvSpPr>
          <p:nvPr>
            <p:ph type="body" idx="1"/>
          </p:nvPr>
        </p:nvSpPr>
        <p:spPr>
          <a:xfrm>
            <a:off x="1458900" y="4157750"/>
            <a:ext cx="153774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g39f8345b7f8_0_557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f8345b7f8_0_565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g39f8345b7f8_0_565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38" name="Google Shape;38;g39f8345b7f8_0_5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g39f8345b7f8_0_5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g39f8345b7f8_0_565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" name="Google Shape;41;g39f8345b7f8_0_565"/>
          <p:cNvSpPr txBox="1">
            <a:spLocks noGrp="1"/>
          </p:cNvSpPr>
          <p:nvPr>
            <p:ph type="body" idx="1"/>
          </p:nvPr>
        </p:nvSpPr>
        <p:spPr>
          <a:xfrm>
            <a:off x="1458650" y="4157750"/>
            <a:ext cx="75486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g39f8345b7f8_0_565"/>
          <p:cNvSpPr txBox="1">
            <a:spLocks noGrp="1"/>
          </p:cNvSpPr>
          <p:nvPr>
            <p:ph type="body" idx="2"/>
          </p:nvPr>
        </p:nvSpPr>
        <p:spPr>
          <a:xfrm>
            <a:off x="9287207" y="4157750"/>
            <a:ext cx="75486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g39f8345b7f8_0_565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f8345b7f8_0_574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g39f8345b7f8_0_574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47" name="Google Shape;47;g39f8345b7f8_0_57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g39f8345b7f8_0_57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g39f8345b7f8_0_574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g39f8345b7f8_0_57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f8345b7f8_0_581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g39f8345b7f8_0_581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54" name="Google Shape;54;g39f8345b7f8_0_5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g39f8345b7f8_0_5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g39f8345b7f8_0_581"/>
          <p:cNvSpPr txBox="1">
            <a:spLocks noGrp="1"/>
          </p:cNvSpPr>
          <p:nvPr>
            <p:ph type="title"/>
          </p:nvPr>
        </p:nvSpPr>
        <p:spPr>
          <a:xfrm>
            <a:off x="1460000" y="2637300"/>
            <a:ext cx="6601800" cy="276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g39f8345b7f8_0_581"/>
          <p:cNvSpPr txBox="1">
            <a:spLocks noGrp="1"/>
          </p:cNvSpPr>
          <p:nvPr>
            <p:ph type="body" idx="1"/>
          </p:nvPr>
        </p:nvSpPr>
        <p:spPr>
          <a:xfrm>
            <a:off x="1442450" y="5563450"/>
            <a:ext cx="6601800" cy="319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g39f8345b7f8_0_581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9f8345b7f8_0_589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61" name="Google Shape;61;g39f8345b7f8_0_58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g39f8345b7f8_0_58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g39f8345b7f8_0_589"/>
          <p:cNvSpPr txBox="1">
            <a:spLocks noGrp="1"/>
          </p:cNvSpPr>
          <p:nvPr>
            <p:ph type="title"/>
          </p:nvPr>
        </p:nvSpPr>
        <p:spPr>
          <a:xfrm>
            <a:off x="1458900" y="1728600"/>
            <a:ext cx="14042400" cy="59700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g39f8345b7f8_0_589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f8345b7f8_0_595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g39f8345b7f8_0_595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68" name="Google Shape;68;g39f8345b7f8_0_59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g39f8345b7f8_0_59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g39f8345b7f8_0_595"/>
          <p:cNvSpPr txBox="1">
            <a:spLocks noGrp="1"/>
          </p:cNvSpPr>
          <p:nvPr>
            <p:ph type="title"/>
          </p:nvPr>
        </p:nvSpPr>
        <p:spPr>
          <a:xfrm>
            <a:off x="1460000" y="2637300"/>
            <a:ext cx="6601800" cy="3374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" name="Google Shape;71;g39f8345b7f8_0_595"/>
          <p:cNvSpPr txBox="1">
            <a:spLocks noGrp="1"/>
          </p:cNvSpPr>
          <p:nvPr>
            <p:ph type="subTitle" idx="1"/>
          </p:nvPr>
        </p:nvSpPr>
        <p:spPr>
          <a:xfrm>
            <a:off x="1449900" y="6323050"/>
            <a:ext cx="6601800" cy="1518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2" name="Google Shape;72;g39f8345b7f8_0_595"/>
          <p:cNvSpPr txBox="1">
            <a:spLocks noGrp="1"/>
          </p:cNvSpPr>
          <p:nvPr>
            <p:ph type="body" idx="2"/>
          </p:nvPr>
        </p:nvSpPr>
        <p:spPr>
          <a:xfrm>
            <a:off x="10348450" y="2705250"/>
            <a:ext cx="6748800" cy="6051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g39f8345b7f8_0_595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8345b7f8_0_604"/>
          <p:cNvSpPr txBox="1">
            <a:spLocks noGrp="1"/>
          </p:cNvSpPr>
          <p:nvPr>
            <p:ph type="body" idx="1"/>
          </p:nvPr>
        </p:nvSpPr>
        <p:spPr>
          <a:xfrm>
            <a:off x="1449900" y="8745102"/>
            <a:ext cx="15394800" cy="9210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g39f8345b7f8_0_60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9f8345b7f8_0_607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79" name="Google Shape;79;g39f8345b7f8_0_60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g39f8345b7f8_0_60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g39f8345b7f8_0_607"/>
          <p:cNvSpPr txBox="1">
            <a:spLocks noGrp="1"/>
          </p:cNvSpPr>
          <p:nvPr>
            <p:ph type="title" hasCustomPrompt="1"/>
          </p:nvPr>
        </p:nvSpPr>
        <p:spPr>
          <a:xfrm>
            <a:off x="1458900" y="1467900"/>
            <a:ext cx="15376800" cy="2489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9f8345b7f8_0_607"/>
          <p:cNvSpPr txBox="1">
            <a:spLocks noGrp="1"/>
          </p:cNvSpPr>
          <p:nvPr>
            <p:ph type="body" idx="1"/>
          </p:nvPr>
        </p:nvSpPr>
        <p:spPr>
          <a:xfrm>
            <a:off x="1458900" y="4545776"/>
            <a:ext cx="15376800" cy="3160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9f8345b7f8_0_607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8345b7f8_0_61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f8345b7f8_0_53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" name="Google Shape;11;g39f8345b7f8_0_53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  <a:defRPr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Google Shape;12;g39f8345b7f8_0_539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hyperlink" Target="mailto:jnaneshl587@gmail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65" y="0"/>
            <a:ext cx="18308365" cy="10275570"/>
          </a:xfrm>
          <a:custGeom>
            <a:avLst/>
            <a:gdLst/>
            <a:ahLst/>
            <a:cxnLst/>
            <a:rect l="l" t="t" r="r" b="b"/>
            <a:pathLst>
              <a:path w="18308365" h="10275570" extrusionOk="0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r>
              <a:rPr lang="en-US" sz="3600" dirty="0"/>
              <a:t>n</a:t>
            </a:r>
            <a:endParaRPr lang="en-IN" sz="3600" dirty="0"/>
          </a:p>
        </p:txBody>
      </p:sp>
      <p:graphicFrame>
        <p:nvGraphicFramePr>
          <p:cNvPr id="95" name="Google Shape;95;p2"/>
          <p:cNvGraphicFramePr/>
          <p:nvPr>
            <p:extLst>
              <p:ext uri="{D42A27DB-BD31-4B8C-83A1-F6EECF244321}">
                <p14:modId xmlns:p14="http://schemas.microsoft.com/office/powerpoint/2010/main" val="755739163"/>
              </p:ext>
            </p:extLst>
          </p:nvPr>
        </p:nvGraphicFramePr>
        <p:xfrm>
          <a:off x="2286000" y="5344616"/>
          <a:ext cx="13525326" cy="2663758"/>
        </p:xfrm>
        <a:graphic>
          <a:graphicData uri="http://schemas.openxmlformats.org/drawingml/2006/table">
            <a:tbl>
              <a:tblPr>
                <a:noFill/>
                <a:tableStyleId>{2FC23218-A1CE-406B-A49E-9FDE17486B0B}</a:tableStyleId>
              </a:tblPr>
              <a:tblGrid>
                <a:gridCol w="678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1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18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/>
                        <a:t>Jnanesh L</a:t>
                      </a:r>
                      <a:endParaRPr sz="3600" u="none" strike="noStrike" cap="none" dirty="0"/>
                    </a:p>
                  </a:txBody>
                  <a:tcPr marL="91425" marR="91425" marT="91425" marB="914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/>
                        <a:t>Harshavardhan</a:t>
                      </a:r>
                      <a:endParaRPr sz="3600" u="none" strike="noStrike" cap="none" dirty="0"/>
                    </a:p>
                  </a:txBody>
                  <a:tcPr marL="91425" marR="91425" marT="91425" marB="914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18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/>
                        <a:t>Dheeraj Kini</a:t>
                      </a:r>
                    </a:p>
                  </a:txBody>
                  <a:tcPr marL="91425" marR="91425" marT="91425" marB="914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/>
                        <a:t>Shishir Ramamoorthi</a:t>
                      </a:r>
                    </a:p>
                  </a:txBody>
                  <a:tcPr marL="91425" marR="91425" marT="91425" marB="914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6" name="Google Shape;96;p2"/>
          <p:cNvSpPr/>
          <p:nvPr/>
        </p:nvSpPr>
        <p:spPr>
          <a:xfrm>
            <a:off x="696457" y="605492"/>
            <a:ext cx="7188718" cy="996456"/>
          </a:xfrm>
          <a:custGeom>
            <a:avLst/>
            <a:gdLst/>
            <a:ahLst/>
            <a:cxnLst/>
            <a:rect l="l" t="t" r="r" b="b"/>
            <a:pathLst>
              <a:path w="7188718" h="996456" extrusionOk="0">
                <a:moveTo>
                  <a:pt x="0" y="0"/>
                </a:moveTo>
                <a:lnTo>
                  <a:pt x="7188717" y="0"/>
                </a:lnTo>
                <a:lnTo>
                  <a:pt x="7188717" y="996456"/>
                </a:lnTo>
                <a:lnTo>
                  <a:pt x="0" y="996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7" name="Google Shape;97;p2"/>
          <p:cNvSpPr txBox="1"/>
          <p:nvPr/>
        </p:nvSpPr>
        <p:spPr>
          <a:xfrm>
            <a:off x="7148927" y="1943158"/>
            <a:ext cx="39900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9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INNOEX 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128300" y="2738495"/>
            <a:ext cx="385605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24-HOUR HACKATHON 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47C94E-8257-DA64-A34F-32FC6829B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64512"/>
              </p:ext>
            </p:extLst>
          </p:nvPr>
        </p:nvGraphicFramePr>
        <p:xfrm>
          <a:off x="2285913" y="3411868"/>
          <a:ext cx="12192000" cy="822960"/>
        </p:xfrm>
        <a:graphic>
          <a:graphicData uri="http://schemas.openxmlformats.org/drawingml/2006/table">
            <a:tbl>
              <a:tblPr firstRow="1" bandRow="1">
                <a:tableStyleId>{2FC23218-A1CE-406B-A49E-9FDE17486B0B}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59331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800" u="sng" dirty="0">
                          <a:latin typeface="Arial Black" panose="020B0A04020102020204" pitchFamily="34" charset="0"/>
                        </a:rPr>
                        <a:t>Team name </a:t>
                      </a:r>
                      <a:r>
                        <a:rPr lang="en-US" sz="4800" dirty="0">
                          <a:latin typeface="Arial Black" panose="020B0A04020102020204" pitchFamily="34" charset="0"/>
                        </a:rPr>
                        <a:t>: </a:t>
                      </a:r>
                      <a:r>
                        <a:rPr lang="en-US" sz="4800" dirty="0">
                          <a:latin typeface="Arial Rounded MT Bold" panose="020F0704030504030204" pitchFamily="34" charset="0"/>
                        </a:rPr>
                        <a:t>Hackzilla</a:t>
                      </a:r>
                      <a:endParaRPr lang="en-IN" sz="48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68446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77028A-9AA7-A78C-5F3E-8B3905FC5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11792"/>
              </p:ext>
            </p:extLst>
          </p:nvPr>
        </p:nvGraphicFramePr>
        <p:xfrm>
          <a:off x="2285826" y="4703038"/>
          <a:ext cx="13525500" cy="640080"/>
        </p:xfrm>
        <a:graphic>
          <a:graphicData uri="http://schemas.openxmlformats.org/drawingml/2006/table">
            <a:tbl>
              <a:tblPr firstRow="1" bandRow="1">
                <a:tableStyleId>{2FC23218-A1CE-406B-A49E-9FDE17486B0B}</a:tableStyleId>
              </a:tblPr>
              <a:tblGrid>
                <a:gridCol w="13525500">
                  <a:extLst>
                    <a:ext uri="{9D8B030D-6E8A-4147-A177-3AD203B41FA5}">
                      <a16:colId xmlns:a16="http://schemas.microsoft.com/office/drawing/2014/main" val="1048864693"/>
                    </a:ext>
                  </a:extLst>
                </a:gridCol>
              </a:tblGrid>
              <a:tr h="137734">
                <a:tc>
                  <a:txBody>
                    <a:bodyPr/>
                    <a:lstStyle/>
                    <a:p>
                      <a:r>
                        <a:rPr lang="en-US" sz="3600" u="sng" dirty="0">
                          <a:latin typeface="Arial Black" panose="020B0A04020102020204" pitchFamily="34" charset="0"/>
                        </a:rPr>
                        <a:t>Team members </a:t>
                      </a:r>
                      <a:r>
                        <a:rPr lang="en-US" sz="3600" dirty="0">
                          <a:latin typeface="Arial Black" panose="020B0A04020102020204" pitchFamily="34" charset="0"/>
                        </a:rPr>
                        <a:t>:</a:t>
                      </a:r>
                      <a:endParaRPr lang="en-IN" sz="360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74073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D4781A-F8FD-0EB3-CE0D-B62B717EB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686979"/>
              </p:ext>
            </p:extLst>
          </p:nvPr>
        </p:nvGraphicFramePr>
        <p:xfrm>
          <a:off x="2285826" y="7956528"/>
          <a:ext cx="12192000" cy="1188720"/>
        </p:xfrm>
        <a:graphic>
          <a:graphicData uri="http://schemas.openxmlformats.org/drawingml/2006/table">
            <a:tbl>
              <a:tblPr firstRow="1" bandRow="1">
                <a:tableStyleId>{2FC23218-A1CE-406B-A49E-9FDE17486B0B}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41541637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2400" b="0" u="sng" dirty="0">
                          <a:latin typeface="+mn-lt"/>
                          <a:hlinkClick r:id="rId5"/>
                        </a:rPr>
                        <a:t>Email : jnaneshl587@gmail.com</a:t>
                      </a:r>
                      <a:endParaRPr lang="en-US" sz="2400" b="0" u="sng" dirty="0">
                        <a:latin typeface="+mn-lt"/>
                      </a:endParaRPr>
                    </a:p>
                    <a:p>
                      <a:r>
                        <a:rPr lang="en-US" sz="2400" b="0" u="sng" dirty="0" err="1">
                          <a:latin typeface="+mn-lt"/>
                        </a:rPr>
                        <a:t>Phn</a:t>
                      </a:r>
                      <a:r>
                        <a:rPr lang="en-US" sz="2400" b="0" u="sng" dirty="0">
                          <a:latin typeface="+mn-lt"/>
                        </a:rPr>
                        <a:t> : 7760989192</a:t>
                      </a:r>
                    </a:p>
                    <a:p>
                      <a:r>
                        <a:rPr lang="en-US" sz="2400" b="0" u="sng" dirty="0">
                          <a:latin typeface="+mn-lt"/>
                        </a:rPr>
                        <a:t>College : SMVITM </a:t>
                      </a:r>
                      <a:endParaRPr lang="en-IN" sz="2400" b="0" u="sng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483048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3"/>
          <p:cNvGrpSpPr/>
          <p:nvPr/>
        </p:nvGrpSpPr>
        <p:grpSpPr>
          <a:xfrm>
            <a:off x="621475" y="2352120"/>
            <a:ext cx="17109913" cy="928921"/>
            <a:chOff x="-669966" y="0"/>
            <a:chExt cx="22813217" cy="1238561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10494372" cy="994228"/>
            </a:xfrm>
            <a:custGeom>
              <a:avLst/>
              <a:gdLst/>
              <a:ahLst/>
              <a:cxnLst/>
              <a:rect l="l" t="t" r="r" b="b"/>
              <a:pathLst>
                <a:path w="10494372" h="994228" extrusionOk="0">
                  <a:moveTo>
                    <a:pt x="0" y="0"/>
                  </a:moveTo>
                  <a:lnTo>
                    <a:pt x="10494372" y="0"/>
                  </a:lnTo>
                  <a:lnTo>
                    <a:pt x="10494372" y="994228"/>
                  </a:lnTo>
                  <a:lnTo>
                    <a:pt x="0" y="994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-669966" y="272861"/>
              <a:ext cx="22813217" cy="9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sng" strike="noStrike" cap="none" dirty="0">
                  <a:solidFill>
                    <a:srgbClr val="000000"/>
                  </a:solidFill>
                </a:rPr>
                <a:t>Problem Statement</a:t>
              </a:r>
              <a:r>
                <a:rPr lang="en-US" sz="3200" b="1" i="0" u="none" strike="noStrike" cap="none" dirty="0">
                  <a:solidFill>
                    <a:srgbClr val="000000"/>
                  </a:solidFill>
                  <a:latin typeface="Bahnschrift SemiLight SemiConde" panose="020B0502040204020203" pitchFamily="34" charset="0"/>
                </a:rPr>
                <a:t>: </a:t>
              </a:r>
              <a:r>
                <a:rPr lang="en-US" sz="3200" b="1" dirty="0">
                  <a:latin typeface="Bahnschrift SemiLight SemiConde" panose="020B0502040204020203" pitchFamily="34" charset="0"/>
                </a:rPr>
                <a:t>Women safety in remote area.</a:t>
              </a:r>
              <a:endParaRPr sz="3200" dirty="0">
                <a:latin typeface="Bahnschrift SemiLight SemiConde" panose="020B0502040204020203" pitchFamily="34" charset="0"/>
              </a:endParaRPr>
            </a:p>
          </p:txBody>
        </p:sp>
      </p:grpSp>
      <p:grpSp>
        <p:nvGrpSpPr>
          <p:cNvPr id="111" name="Google Shape;111;p3"/>
          <p:cNvGrpSpPr/>
          <p:nvPr/>
        </p:nvGrpSpPr>
        <p:grpSpPr>
          <a:xfrm>
            <a:off x="14390482" y="212458"/>
            <a:ext cx="3235807" cy="1632484"/>
            <a:chOff x="0" y="0"/>
            <a:chExt cx="4314409" cy="2176646"/>
          </a:xfrm>
        </p:grpSpPr>
        <p:sp>
          <p:nvSpPr>
            <p:cNvPr id="112" name="Google Shape;112;p3"/>
            <p:cNvSpPr/>
            <p:nvPr/>
          </p:nvSpPr>
          <p:spPr>
            <a:xfrm>
              <a:off x="2176646" y="50663"/>
              <a:ext cx="2137763" cy="2075320"/>
            </a:xfrm>
            <a:custGeom>
              <a:avLst/>
              <a:gdLst/>
              <a:ahLst/>
              <a:cxnLst/>
              <a:rect l="l" t="t" r="r" b="b"/>
              <a:pathLst>
                <a:path w="2137763" h="2075320" extrusionOk="0">
                  <a:moveTo>
                    <a:pt x="0" y="0"/>
                  </a:moveTo>
                  <a:lnTo>
                    <a:pt x="2137763" y="0"/>
                  </a:lnTo>
                  <a:lnTo>
                    <a:pt x="2137763" y="2075320"/>
                  </a:lnTo>
                  <a:lnTo>
                    <a:pt x="0" y="20753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0" y="0"/>
              <a:ext cx="2176646" cy="2176646"/>
            </a:xfrm>
            <a:custGeom>
              <a:avLst/>
              <a:gdLst/>
              <a:ahLst/>
              <a:cxnLst/>
              <a:rect l="l" t="t" r="r" b="b"/>
              <a:pathLst>
                <a:path w="2176646" h="2176646" extrusionOk="0">
                  <a:moveTo>
                    <a:pt x="0" y="0"/>
                  </a:moveTo>
                  <a:lnTo>
                    <a:pt x="2176646" y="0"/>
                  </a:lnTo>
                  <a:lnTo>
                    <a:pt x="2176646" y="2176646"/>
                  </a:lnTo>
                  <a:lnTo>
                    <a:pt x="0" y="21766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4" name="Google Shape;114;p3"/>
          <p:cNvSpPr/>
          <p:nvPr/>
        </p:nvSpPr>
        <p:spPr>
          <a:xfrm>
            <a:off x="686325" y="497145"/>
            <a:ext cx="7669583" cy="1063111"/>
          </a:xfrm>
          <a:custGeom>
            <a:avLst/>
            <a:gdLst/>
            <a:ahLst/>
            <a:cxnLst/>
            <a:rect l="l" t="t" r="r" b="b"/>
            <a:pathLst>
              <a:path w="7669583" h="1063111" extrusionOk="0">
                <a:moveTo>
                  <a:pt x="0" y="0"/>
                </a:moveTo>
                <a:lnTo>
                  <a:pt x="7669583" y="0"/>
                </a:lnTo>
                <a:lnTo>
                  <a:pt x="7669583" y="1063110"/>
                </a:lnTo>
                <a:lnTo>
                  <a:pt x="0" y="1063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5" name="Google Shape;115;p3"/>
          <p:cNvSpPr/>
          <p:nvPr/>
        </p:nvSpPr>
        <p:spPr>
          <a:xfrm rot="-5400000">
            <a:off x="9079595" y="-6482923"/>
            <a:ext cx="128811" cy="17174775"/>
          </a:xfrm>
          <a:custGeom>
            <a:avLst/>
            <a:gdLst/>
            <a:ahLst/>
            <a:cxnLst/>
            <a:rect l="l" t="t" r="r" b="b"/>
            <a:pathLst>
              <a:path w="128811" h="17174775" extrusionOk="0">
                <a:moveTo>
                  <a:pt x="0" y="0"/>
                </a:moveTo>
                <a:lnTo>
                  <a:pt x="128810" y="0"/>
                </a:lnTo>
                <a:lnTo>
                  <a:pt x="128810" y="17174775"/>
                </a:lnTo>
                <a:lnTo>
                  <a:pt x="0" y="17174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6" name="Google Shape;116;p3"/>
          <p:cNvSpPr txBox="1"/>
          <p:nvPr/>
        </p:nvSpPr>
        <p:spPr>
          <a:xfrm>
            <a:off x="621475" y="3429000"/>
            <a:ext cx="17004900" cy="603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C1C1C"/>
                </a:solidFill>
                <a:latin typeface="Arial Black" panose="020B0A04020102020204" pitchFamily="34" charset="0"/>
              </a:rPr>
              <a:t>Women</a:t>
            </a:r>
            <a:r>
              <a:rPr lang="en-US" sz="2800" dirty="0">
                <a:solidFill>
                  <a:srgbClr val="1C1C1C"/>
                </a:solidFill>
              </a:rPr>
              <a:t> in rural and remote area often lack basic facility, protection, etc.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C1C1C"/>
                </a:solidFill>
              </a:rPr>
              <a:t>They </a:t>
            </a:r>
            <a:r>
              <a:rPr lang="en-US" sz="2800" b="1" dirty="0">
                <a:solidFill>
                  <a:srgbClr val="1C1C1C"/>
                </a:solidFill>
              </a:rPr>
              <a:t>lack protection</a:t>
            </a:r>
            <a:r>
              <a:rPr lang="en-US" sz="2800" dirty="0">
                <a:solidFill>
                  <a:srgbClr val="1C1C1C"/>
                </a:solidFill>
              </a:rPr>
              <a:t> especially during travelling, accessing healthcare</a:t>
            </a:r>
            <a:r>
              <a:rPr lang="en-US" sz="2800" b="1" dirty="0">
                <a:solidFill>
                  <a:srgbClr val="1C1C1C"/>
                </a:solidFill>
              </a:rPr>
              <a:t>, education or work place</a:t>
            </a:r>
            <a:r>
              <a:rPr lang="en-US" sz="2800" dirty="0">
                <a:solidFill>
                  <a:srgbClr val="1C1C1C"/>
                </a:solidFill>
              </a:rPr>
              <a:t>. Most of the women face these problems and are </a:t>
            </a:r>
            <a:r>
              <a:rPr lang="en-US" sz="2800" b="1" dirty="0">
                <a:solidFill>
                  <a:srgbClr val="1C1C1C"/>
                </a:solidFill>
              </a:rPr>
              <a:t>not able to fight against </a:t>
            </a:r>
            <a:r>
              <a:rPr lang="en-US" sz="2800" dirty="0">
                <a:solidFill>
                  <a:srgbClr val="1C1C1C"/>
                </a:solidFill>
              </a:rPr>
              <a:t>these problems and are continuously </a:t>
            </a:r>
            <a:r>
              <a:rPr lang="en-US" sz="2800" b="1" dirty="0">
                <a:solidFill>
                  <a:srgbClr val="1C1C1C"/>
                </a:solidFill>
              </a:rPr>
              <a:t>getting abused and harassed</a:t>
            </a:r>
            <a:r>
              <a:rPr lang="en-US" sz="2800" dirty="0">
                <a:solidFill>
                  <a:srgbClr val="1C1C1C"/>
                </a:solidFill>
              </a:rPr>
              <a:t>.</a:t>
            </a:r>
          </a:p>
          <a:p>
            <a:pPr fontAlgn="base"/>
            <a:r>
              <a:rPr lang="en-US" sz="2800" dirty="0">
                <a:latin typeface="Arial Black" panose="020B0A04020102020204" pitchFamily="34" charset="0"/>
              </a:rPr>
              <a:t>Main reasons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800" dirty="0"/>
              <a:t>that they face the problems are:​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education​ and communication barrier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poor infrastructure ​like lack of street lights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delayed emergency response 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awareness about rights 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reliable safety system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absence of community support system</a:t>
            </a:r>
          </a:p>
          <a:p>
            <a:pPr fontAlgn="base"/>
            <a:endParaRPr lang="en-US" sz="2800" dirty="0">
              <a:latin typeface="Arial Black" panose="020B0A04020102020204" pitchFamily="34" charset="0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1C1C1C"/>
              </a:solidFill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86325" y="497145"/>
            <a:ext cx="7669583" cy="1063111"/>
          </a:xfrm>
          <a:custGeom>
            <a:avLst/>
            <a:gdLst/>
            <a:ahLst/>
            <a:cxnLst/>
            <a:rect l="l" t="t" r="r" b="b"/>
            <a:pathLst>
              <a:path w="7669583" h="1063111" extrusionOk="0">
                <a:moveTo>
                  <a:pt x="0" y="0"/>
                </a:moveTo>
                <a:lnTo>
                  <a:pt x="7669583" y="0"/>
                </a:lnTo>
                <a:lnTo>
                  <a:pt x="7669583" y="1063110"/>
                </a:lnTo>
                <a:lnTo>
                  <a:pt x="0" y="1063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556650" y="2487200"/>
            <a:ext cx="17174775" cy="635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u="sng" dirty="0">
                <a:solidFill>
                  <a:schemeClr val="dk2"/>
                </a:solidFill>
              </a:rPr>
              <a:t>S</a:t>
            </a:r>
            <a:r>
              <a:rPr lang="en-US" sz="3600" b="1" i="0" u="sng" strike="noStrike" cap="none" dirty="0">
                <a:solidFill>
                  <a:schemeClr val="dk2"/>
                </a:solidFill>
              </a:rPr>
              <a:t>olutio</a:t>
            </a:r>
            <a:r>
              <a:rPr lang="en-US" sz="3600" b="1" u="sng" dirty="0">
                <a:solidFill>
                  <a:schemeClr val="dk2"/>
                </a:solidFill>
              </a:rPr>
              <a:t>n </a:t>
            </a:r>
            <a:r>
              <a:rPr lang="en-US" sz="3200" b="1" u="sng" dirty="0">
                <a:solidFill>
                  <a:schemeClr val="dk2"/>
                </a:solidFill>
              </a:rPr>
              <a:t>: Power Her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2"/>
                </a:solidFill>
                <a:latin typeface="+mn-lt"/>
              </a:rPr>
              <a:t>An app which basically provide 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technical protection for woman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. It is an easily operated app , that can be accessed by any woman even present in the 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most remote areas</a:t>
            </a:r>
            <a:r>
              <a:rPr lang="en-US" sz="2800" b="1" dirty="0">
                <a:solidFill>
                  <a:schemeClr val="dk2"/>
                </a:solidFill>
              </a:rPr>
              <a:t>.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2"/>
                </a:solidFill>
              </a:rPr>
              <a:t> </a:t>
            </a:r>
            <a:r>
              <a:rPr lang="en-US" sz="3600" b="1" u="sng" dirty="0">
                <a:solidFill>
                  <a:schemeClr val="dk2"/>
                </a:solidFill>
              </a:rPr>
              <a:t>Key Features of the app :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</a:rPr>
              <a:t>SOS emergency button </a:t>
            </a:r>
            <a:r>
              <a:rPr lang="en-US" sz="2800" dirty="0">
                <a:solidFill>
                  <a:schemeClr val="dk2"/>
                </a:solidFill>
              </a:rPr>
              <a:t>: Sends live location for family , police or any nearby emergency center.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Offline support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Works in low network and in offline condition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Safe zone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Sends alerts when entering unsafe or isolated area.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Low literacy assist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Multilanguage voice assist </a:t>
            </a:r>
          </a:p>
          <a:p>
            <a:pPr lvl="0">
              <a:lnSpc>
                <a:spcPct val="120000"/>
              </a:lnSpc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Voice SOS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</a:t>
            </a:r>
            <a:r>
              <a:rPr lang="en-IN" sz="2800" dirty="0">
                <a:latin typeface="+mn-lt"/>
              </a:rPr>
              <a:t>Code word triggers emergency</a:t>
            </a:r>
          </a:p>
          <a:p>
            <a:pPr lvl="0">
              <a:lnSpc>
                <a:spcPct val="120000"/>
              </a:lnSpc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AI chatbot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Give awareness about woman safety and info on precautions.</a:t>
            </a:r>
            <a:endParaRPr lang="en-US" sz="3600" dirty="0">
              <a:solidFill>
                <a:schemeClr val="dk2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7" name="Google Shape;127;p4"/>
          <p:cNvGrpSpPr/>
          <p:nvPr/>
        </p:nvGrpSpPr>
        <p:grpSpPr>
          <a:xfrm>
            <a:off x="13738385" y="253489"/>
            <a:ext cx="3520915" cy="1776323"/>
            <a:chOff x="0" y="0"/>
            <a:chExt cx="4694553" cy="2368431"/>
          </a:xfrm>
        </p:grpSpPr>
        <p:sp>
          <p:nvSpPr>
            <p:cNvPr id="128" name="Google Shape;128;p4"/>
            <p:cNvSpPr/>
            <p:nvPr/>
          </p:nvSpPr>
          <p:spPr>
            <a:xfrm>
              <a:off x="2368431" y="55127"/>
              <a:ext cx="2326122" cy="2258177"/>
            </a:xfrm>
            <a:custGeom>
              <a:avLst/>
              <a:gdLst/>
              <a:ahLst/>
              <a:cxnLst/>
              <a:rect l="l" t="t" r="r" b="b"/>
              <a:pathLst>
                <a:path w="2326122" h="2258177" extrusionOk="0">
                  <a:moveTo>
                    <a:pt x="0" y="0"/>
                  </a:moveTo>
                  <a:lnTo>
                    <a:pt x="2326122" y="0"/>
                  </a:lnTo>
                  <a:lnTo>
                    <a:pt x="2326122" y="2258177"/>
                  </a:lnTo>
                  <a:lnTo>
                    <a:pt x="0" y="225817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0" y="0"/>
              <a:ext cx="2368431" cy="2368431"/>
            </a:xfrm>
            <a:custGeom>
              <a:avLst/>
              <a:gdLst/>
              <a:ahLst/>
              <a:cxnLst/>
              <a:rect l="l" t="t" r="r" b="b"/>
              <a:pathLst>
                <a:path w="2368431" h="2368431" extrusionOk="0">
                  <a:moveTo>
                    <a:pt x="0" y="0"/>
                  </a:moveTo>
                  <a:lnTo>
                    <a:pt x="2368431" y="0"/>
                  </a:lnTo>
                  <a:lnTo>
                    <a:pt x="2368431" y="2368431"/>
                  </a:lnTo>
                  <a:lnTo>
                    <a:pt x="0" y="23684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0" name="Google Shape;130;p4"/>
          <p:cNvSpPr/>
          <p:nvPr/>
        </p:nvSpPr>
        <p:spPr>
          <a:xfrm>
            <a:off x="686325" y="480405"/>
            <a:ext cx="7911116" cy="1096590"/>
          </a:xfrm>
          <a:custGeom>
            <a:avLst/>
            <a:gdLst/>
            <a:ahLst/>
            <a:cxnLst/>
            <a:rect l="l" t="t" r="r" b="b"/>
            <a:pathLst>
              <a:path w="7911116" h="1096590" extrusionOk="0">
                <a:moveTo>
                  <a:pt x="0" y="0"/>
                </a:moveTo>
                <a:lnTo>
                  <a:pt x="7911115" y="0"/>
                </a:lnTo>
                <a:lnTo>
                  <a:pt x="7911115" y="1096590"/>
                </a:lnTo>
                <a:lnTo>
                  <a:pt x="0" y="1096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1" name="Google Shape;131;p4"/>
          <p:cNvSpPr/>
          <p:nvPr/>
        </p:nvSpPr>
        <p:spPr>
          <a:xfrm rot="-5400000">
            <a:off x="8949882" y="-6505686"/>
            <a:ext cx="128811" cy="17174775"/>
          </a:xfrm>
          <a:custGeom>
            <a:avLst/>
            <a:gdLst/>
            <a:ahLst/>
            <a:cxnLst/>
            <a:rect l="l" t="t" r="r" b="b"/>
            <a:pathLst>
              <a:path w="128811" h="17174775" extrusionOk="0">
                <a:moveTo>
                  <a:pt x="0" y="0"/>
                </a:moveTo>
                <a:lnTo>
                  <a:pt x="128811" y="0"/>
                </a:lnTo>
                <a:lnTo>
                  <a:pt x="128811" y="17174775"/>
                </a:lnTo>
                <a:lnTo>
                  <a:pt x="0" y="17174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375476" y="2465729"/>
            <a:ext cx="5387227" cy="876300"/>
          </a:xfrm>
          <a:custGeom>
            <a:avLst/>
            <a:gdLst/>
            <a:ahLst/>
            <a:cxnLst/>
            <a:rect l="l" t="t" r="r" b="b"/>
            <a:pathLst>
              <a:path w="11059796" h="1168400" extrusionOk="0">
                <a:moveTo>
                  <a:pt x="0" y="0"/>
                </a:moveTo>
                <a:lnTo>
                  <a:pt x="11059796" y="0"/>
                </a:lnTo>
                <a:lnTo>
                  <a:pt x="11059796" y="1168400"/>
                </a:lnTo>
                <a:lnTo>
                  <a:pt x="0" y="11684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41" name="Google Shape;141;p5"/>
          <p:cNvGrpSpPr/>
          <p:nvPr/>
        </p:nvGrpSpPr>
        <p:grpSpPr>
          <a:xfrm>
            <a:off x="14214171" y="282418"/>
            <a:ext cx="3387503" cy="1709016"/>
            <a:chOff x="0" y="0"/>
            <a:chExt cx="4516671" cy="2278688"/>
          </a:xfrm>
        </p:grpSpPr>
        <p:sp>
          <p:nvSpPr>
            <p:cNvPr id="142" name="Google Shape;142;p5"/>
            <p:cNvSpPr/>
            <p:nvPr/>
          </p:nvSpPr>
          <p:spPr>
            <a:xfrm>
              <a:off x="2278688" y="53038"/>
              <a:ext cx="2237983" cy="2172613"/>
            </a:xfrm>
            <a:custGeom>
              <a:avLst/>
              <a:gdLst/>
              <a:ahLst/>
              <a:cxnLst/>
              <a:rect l="l" t="t" r="r" b="b"/>
              <a:pathLst>
                <a:path w="2237983" h="2172613" extrusionOk="0">
                  <a:moveTo>
                    <a:pt x="0" y="0"/>
                  </a:moveTo>
                  <a:lnTo>
                    <a:pt x="2237984" y="0"/>
                  </a:lnTo>
                  <a:lnTo>
                    <a:pt x="2237984" y="2172613"/>
                  </a:lnTo>
                  <a:lnTo>
                    <a:pt x="0" y="21726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0" y="0"/>
              <a:ext cx="2278688" cy="2278688"/>
            </a:xfrm>
            <a:custGeom>
              <a:avLst/>
              <a:gdLst/>
              <a:ahLst/>
              <a:cxnLst/>
              <a:rect l="l" t="t" r="r" b="b"/>
              <a:pathLst>
                <a:path w="2278688" h="2278688" extrusionOk="0">
                  <a:moveTo>
                    <a:pt x="0" y="0"/>
                  </a:moveTo>
                  <a:lnTo>
                    <a:pt x="2278688" y="0"/>
                  </a:lnTo>
                  <a:lnTo>
                    <a:pt x="2278688" y="2278688"/>
                  </a:lnTo>
                  <a:lnTo>
                    <a:pt x="0" y="22786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4" name="Google Shape;144;p5"/>
          <p:cNvSpPr/>
          <p:nvPr/>
        </p:nvSpPr>
        <p:spPr>
          <a:xfrm>
            <a:off x="627510" y="497145"/>
            <a:ext cx="7669583" cy="1063111"/>
          </a:xfrm>
          <a:custGeom>
            <a:avLst/>
            <a:gdLst/>
            <a:ahLst/>
            <a:cxnLst/>
            <a:rect l="l" t="t" r="r" b="b"/>
            <a:pathLst>
              <a:path w="7669583" h="1063111" extrusionOk="0">
                <a:moveTo>
                  <a:pt x="0" y="0"/>
                </a:moveTo>
                <a:lnTo>
                  <a:pt x="7669583" y="0"/>
                </a:lnTo>
                <a:lnTo>
                  <a:pt x="7669583" y="1063110"/>
                </a:lnTo>
                <a:lnTo>
                  <a:pt x="0" y="1063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5" name="Google Shape;145;p5"/>
          <p:cNvSpPr/>
          <p:nvPr/>
        </p:nvSpPr>
        <p:spPr>
          <a:xfrm rot="-5400000">
            <a:off x="9079595" y="-6402533"/>
            <a:ext cx="128811" cy="17174775"/>
          </a:xfrm>
          <a:custGeom>
            <a:avLst/>
            <a:gdLst/>
            <a:ahLst/>
            <a:cxnLst/>
            <a:rect l="l" t="t" r="r" b="b"/>
            <a:pathLst>
              <a:path w="128811" h="17174775" extrusionOk="0">
                <a:moveTo>
                  <a:pt x="0" y="0"/>
                </a:moveTo>
                <a:lnTo>
                  <a:pt x="128810" y="0"/>
                </a:lnTo>
                <a:lnTo>
                  <a:pt x="128810" y="17174774"/>
                </a:lnTo>
                <a:lnTo>
                  <a:pt x="0" y="17174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6" name="Google Shape;146;p5"/>
          <p:cNvSpPr txBox="1"/>
          <p:nvPr/>
        </p:nvSpPr>
        <p:spPr>
          <a:xfrm>
            <a:off x="7049625" y="3120700"/>
            <a:ext cx="540300" cy="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10061900" y="3538800"/>
            <a:ext cx="7669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819484" y="2492281"/>
            <a:ext cx="16353600" cy="6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e0971041_9_27"/>
          <p:cNvSpPr/>
          <p:nvPr/>
        </p:nvSpPr>
        <p:spPr>
          <a:xfrm>
            <a:off x="375476" y="2465729"/>
            <a:ext cx="5391651" cy="876300"/>
          </a:xfrm>
          <a:custGeom>
            <a:avLst/>
            <a:gdLst/>
            <a:ahLst/>
            <a:cxnLst/>
            <a:rect l="l" t="t" r="r" b="b"/>
            <a:pathLst>
              <a:path w="11059796" h="1168400" extrusionOk="0">
                <a:moveTo>
                  <a:pt x="0" y="0"/>
                </a:moveTo>
                <a:lnTo>
                  <a:pt x="11059796" y="0"/>
                </a:lnTo>
                <a:lnTo>
                  <a:pt x="11059796" y="1168400"/>
                </a:lnTo>
                <a:lnTo>
                  <a:pt x="0" y="11684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58" name="Google Shape;158;g39fe0971041_9_27"/>
          <p:cNvGrpSpPr/>
          <p:nvPr/>
        </p:nvGrpSpPr>
        <p:grpSpPr>
          <a:xfrm>
            <a:off x="14214171" y="282418"/>
            <a:ext cx="3387503" cy="1709016"/>
            <a:chOff x="0" y="0"/>
            <a:chExt cx="4516671" cy="2278688"/>
          </a:xfrm>
        </p:grpSpPr>
        <p:sp>
          <p:nvSpPr>
            <p:cNvPr id="159" name="Google Shape;159;g39fe0971041_9_27"/>
            <p:cNvSpPr/>
            <p:nvPr/>
          </p:nvSpPr>
          <p:spPr>
            <a:xfrm>
              <a:off x="2278688" y="53038"/>
              <a:ext cx="2237983" cy="2172613"/>
            </a:xfrm>
            <a:custGeom>
              <a:avLst/>
              <a:gdLst/>
              <a:ahLst/>
              <a:cxnLst/>
              <a:rect l="l" t="t" r="r" b="b"/>
              <a:pathLst>
                <a:path w="2237983" h="2172613" extrusionOk="0">
                  <a:moveTo>
                    <a:pt x="0" y="0"/>
                  </a:moveTo>
                  <a:lnTo>
                    <a:pt x="2237984" y="0"/>
                  </a:lnTo>
                  <a:lnTo>
                    <a:pt x="2237984" y="2172613"/>
                  </a:lnTo>
                  <a:lnTo>
                    <a:pt x="0" y="21726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0" name="Google Shape;160;g39fe0971041_9_27"/>
            <p:cNvSpPr/>
            <p:nvPr/>
          </p:nvSpPr>
          <p:spPr>
            <a:xfrm>
              <a:off x="0" y="0"/>
              <a:ext cx="2278688" cy="2278688"/>
            </a:xfrm>
            <a:custGeom>
              <a:avLst/>
              <a:gdLst/>
              <a:ahLst/>
              <a:cxnLst/>
              <a:rect l="l" t="t" r="r" b="b"/>
              <a:pathLst>
                <a:path w="2278688" h="2278688" extrusionOk="0">
                  <a:moveTo>
                    <a:pt x="0" y="0"/>
                  </a:moveTo>
                  <a:lnTo>
                    <a:pt x="2278688" y="0"/>
                  </a:lnTo>
                  <a:lnTo>
                    <a:pt x="2278688" y="2278688"/>
                  </a:lnTo>
                  <a:lnTo>
                    <a:pt x="0" y="22786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1" name="Google Shape;161;g39fe0971041_9_27"/>
          <p:cNvSpPr/>
          <p:nvPr/>
        </p:nvSpPr>
        <p:spPr>
          <a:xfrm>
            <a:off x="627510" y="497145"/>
            <a:ext cx="7669583" cy="1063111"/>
          </a:xfrm>
          <a:custGeom>
            <a:avLst/>
            <a:gdLst/>
            <a:ahLst/>
            <a:cxnLst/>
            <a:rect l="l" t="t" r="r" b="b"/>
            <a:pathLst>
              <a:path w="7669583" h="1063111" extrusionOk="0">
                <a:moveTo>
                  <a:pt x="0" y="0"/>
                </a:moveTo>
                <a:lnTo>
                  <a:pt x="7669583" y="0"/>
                </a:lnTo>
                <a:lnTo>
                  <a:pt x="7669583" y="1063110"/>
                </a:lnTo>
                <a:lnTo>
                  <a:pt x="0" y="1063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2" name="Google Shape;162;g39fe0971041_9_27"/>
          <p:cNvSpPr/>
          <p:nvPr/>
        </p:nvSpPr>
        <p:spPr>
          <a:xfrm rot="-5400000">
            <a:off x="9079595" y="-6402533"/>
            <a:ext cx="128811" cy="17174775"/>
          </a:xfrm>
          <a:custGeom>
            <a:avLst/>
            <a:gdLst/>
            <a:ahLst/>
            <a:cxnLst/>
            <a:rect l="l" t="t" r="r" b="b"/>
            <a:pathLst>
              <a:path w="128811" h="17174775" extrusionOk="0">
                <a:moveTo>
                  <a:pt x="0" y="0"/>
                </a:moveTo>
                <a:lnTo>
                  <a:pt x="128810" y="0"/>
                </a:lnTo>
                <a:lnTo>
                  <a:pt x="128810" y="17174774"/>
                </a:lnTo>
                <a:lnTo>
                  <a:pt x="0" y="17174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3" name="Google Shape;163;g39fe0971041_9_27"/>
          <p:cNvSpPr txBox="1"/>
          <p:nvPr/>
        </p:nvSpPr>
        <p:spPr>
          <a:xfrm>
            <a:off x="7049625" y="3120700"/>
            <a:ext cx="540300" cy="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g39fe0971041_9_27"/>
          <p:cNvSpPr txBox="1"/>
          <p:nvPr/>
        </p:nvSpPr>
        <p:spPr>
          <a:xfrm>
            <a:off x="10061900" y="3538800"/>
            <a:ext cx="7669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g39fe0971041_9_27"/>
          <p:cNvSpPr txBox="1"/>
          <p:nvPr/>
        </p:nvSpPr>
        <p:spPr>
          <a:xfrm>
            <a:off x="627756" y="2267631"/>
            <a:ext cx="16353600" cy="38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Tech Stack</a:t>
            </a:r>
            <a:endParaRPr sz="3200" b="1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AI/ML: </a:t>
            </a:r>
            <a:r>
              <a:rPr lang="en-US" sz="3200" dirty="0" err="1"/>
              <a:t>PyTorch</a:t>
            </a:r>
            <a:r>
              <a:rPr lang="en-US" sz="3200" dirty="0"/>
              <a:t>, OpenCV, DeepSORT, YOLOv10</a:t>
            </a:r>
            <a:endParaRPr sz="3200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Backend: </a:t>
            </a:r>
            <a:r>
              <a:rPr lang="en-US" sz="3200" dirty="0"/>
              <a:t>FastAPI, MQTT, WebSockets</a:t>
            </a:r>
            <a:endParaRPr sz="3200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Visualization: </a:t>
            </a:r>
            <a:r>
              <a:rPr lang="en-US" sz="3200" dirty="0"/>
              <a:t>React, Mapbox, Plotly</a:t>
            </a:r>
            <a:endParaRPr sz="3200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Deployment: </a:t>
            </a:r>
            <a:r>
              <a:rPr lang="en-US" sz="3200" dirty="0"/>
              <a:t>Edge devices (Jetson/Raspberry Pi) + Cloud server (AWS/GCP)</a:t>
            </a:r>
            <a:endParaRPr sz="3200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314</Words>
  <Application>Microsoft Office PowerPoint</Application>
  <PresentationFormat>Custom</PresentationFormat>
  <Paragraphs>48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Bahnschrift SemiLight SemiConde</vt:lpstr>
      <vt:lpstr>Calibri</vt:lpstr>
      <vt:lpstr>Arial</vt:lpstr>
      <vt:lpstr>Georgia</vt:lpstr>
      <vt:lpstr>Lato</vt:lpstr>
      <vt:lpstr>Arial Black</vt:lpstr>
      <vt:lpstr>Arial Rounded MT Bold</vt:lpstr>
      <vt:lpstr>Raleway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jnaneshl587@gmail.com</cp:lastModifiedBy>
  <cp:revision>19</cp:revision>
  <dcterms:created xsi:type="dcterms:W3CDTF">2006-08-16T00:00:00Z</dcterms:created>
  <dcterms:modified xsi:type="dcterms:W3CDTF">2025-11-10T10:24:26Z</dcterms:modified>
</cp:coreProperties>
</file>